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589"/>
  </p:normalViewPr>
  <p:slideViewPr>
    <p:cSldViewPr snapToGrid="0" snapToObjects="1">
      <p:cViewPr varScale="1">
        <p:scale>
          <a:sx n="120" d="100"/>
          <a:sy n="120" d="100"/>
        </p:scale>
        <p:origin x="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87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430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UPI TRANSACTION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7512" y="16916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6D6EA"/>
                </a:solidFill>
              </a:rPr>
              <a:t>Analytical Report Deck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7512" y="212140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E2EC"/>
                </a:solidFill>
              </a:rPr>
              <a:t>Data Analytics with GenAI - Capstone Project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546811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E2EC"/>
                </a:solidFill>
              </a:rPr>
              <a:t>Prepared by: Chinmaya Panigrahi</a:t>
            </a:r>
            <a:endParaRPr lang="en-US" sz="1000" dirty="0"/>
          </a:p>
          <a:p>
            <a:r>
              <a:rPr lang="en-US" sz="1000" dirty="0">
                <a:solidFill>
                  <a:srgbClr val="D9E2EC"/>
                </a:solidFill>
              </a:rPr>
              <a:t>Registration ID</a:t>
            </a:r>
            <a:r>
              <a:rPr lang="en-US" sz="1000">
                <a:solidFill>
                  <a:srgbClr val="D9E2EC"/>
                </a:solidFill>
              </a:rPr>
              <a:t>: </a:t>
            </a:r>
            <a:r>
              <a:rPr lang="en-IN" sz="1000">
                <a:solidFill>
                  <a:srgbClr val="D9E2EC"/>
                </a:solidFill>
              </a:rPr>
              <a:t>24CRD05066</a:t>
            </a:r>
            <a:endParaRPr lang="en-US" sz="1000" dirty="0">
              <a:solidFill>
                <a:srgbClr val="D9E2EC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7635240" y="576986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Problem &amp;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324D"/>
                </a:solidFill>
              </a:rPr>
              <a:t>Problem context</a:t>
            </a:r>
            <a:endParaRPr lang="en-US" sz="940" dirty="0"/>
          </a:p>
        </p:txBody>
      </p:sp>
      <p:sp>
        <p:nvSpPr>
          <p:cNvPr id="7" name="Text 5"/>
          <p:cNvSpPr/>
          <p:nvPr/>
        </p:nvSpPr>
        <p:spPr>
          <a:xfrm>
            <a:off x="640080" y="1499616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1F2937"/>
                </a:solidFill>
              </a:rPr>
              <a:t>A UPI platform needs visibility into transaction volume, operational failures, fraud flags, device risk and alert resolution. The goal is to convert raw operational tables into </a:t>
            </a:r>
            <a:r>
              <a:rPr lang="en-IN" sz="920" dirty="0">
                <a:solidFill>
                  <a:srgbClr val="1F2937"/>
                </a:solidFill>
              </a:rPr>
              <a:t>clear findings that can support decisions.</a:t>
            </a:r>
            <a:endParaRPr lang="en-US" sz="920" dirty="0">
              <a:solidFill>
                <a:srgbClr val="1F2937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2788920"/>
            <a:ext cx="374904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transaction health and payment performance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fraud-risk patterns without overstating causality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transaction-failure drivers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 interactive dashboard for monitoring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findings into strategic actions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83480" y="5349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7324D"/>
                </a:solidFill>
              </a:rPr>
              <a:t>Output focus: clean data, valid relationships, </a:t>
            </a:r>
            <a:r>
              <a:rPr lang="en-IN" sz="1200" b="1" dirty="0">
                <a:solidFill>
                  <a:srgbClr val="17324D"/>
                </a:solidFill>
              </a:rPr>
              <a:t>clean analysis and an interactive dashboard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2</a:t>
            </a:r>
            <a:endParaRPr lang="en-US" sz="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E3120E-8138-1D0E-00A0-EA4B34D70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268" y="1319574"/>
            <a:ext cx="6904771" cy="32249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 &amp; Project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200574"/>
              </p:ext>
            </p:extLst>
          </p:nvPr>
        </p:nvGraphicFramePr>
        <p:xfrm>
          <a:off x="548640" y="1170432"/>
          <a:ext cx="4800600" cy="4480560"/>
        </p:xfrm>
        <a:graphic>
          <a:graphicData uri="http://schemas.openxmlformats.org/drawingml/2006/table">
            <a:tbl>
              <a:tblPr/>
              <a:tblGrid>
                <a:gridCol w="1267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table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 in analysis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use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customer_master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profile dimension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Region, age, business-user context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upi_account_details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UPI-account dimension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Bank, account type, account status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upi_transaction_history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Core fact table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Transactions, status, fraud flag, amount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device_info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 dimension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 status, device type, last active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merchant_info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Merchant dimension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Merchant category and risk score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customer_feedback_surveys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Feedback table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 type, satisfaction, resolution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fraud_alert_history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 alert table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Alert type, resolved status, resolution date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06440"/>
            <a:ext cx="11064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</a:rPr>
              <a:t>Architecture: Excel validation -&gt; MySQL schema &amp; ingestion -&gt; Python EDA/statistics -&gt; Power BI dashboards -&gt; executive report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3</a:t>
            </a:r>
            <a:endParaRPr lang="en-US" sz="7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184D4E-25CE-A463-749C-C9A61171D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380" y="1170432"/>
            <a:ext cx="6284660" cy="4480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Validation &amp; Quality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70432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Datasets validated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records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Duplicate PKs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Orphan FKs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FK checks passed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 / 7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140,500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4B8A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4B8A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4B8A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31720"/>
          <a:ext cx="5349240" cy="32461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Validation area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Treatment decision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keys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duplicate primary identifiers detected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Proceed to SQL ingestion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Referential integrity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foreign-key relationships passed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relational model confidently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Contextual nulls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merchant_id, failure_reason and resolution_date blanks explainable by context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Retain; do not impute or delete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Outliers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5,457 transaction-amount outliers flagged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Retain for EDA and business review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Categorical consistency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detected categorical inconsistencies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Proceed to modeling and dashboarding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537960" y="32918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4B8A6"/>
                </a:solidFill>
              </a:rPr>
              <a:t>Why this matters</a:t>
            </a:r>
            <a:endParaRPr lang="en-US" sz="940" dirty="0"/>
          </a:p>
        </p:txBody>
      </p:sp>
      <p:sp>
        <p:nvSpPr>
          <p:cNvPr id="10" name="Text 5"/>
          <p:cNvSpPr/>
          <p:nvPr/>
        </p:nvSpPr>
        <p:spPr>
          <a:xfrm>
            <a:off x="6537960" y="3557016"/>
            <a:ext cx="48920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The validation stage protects later SQL, Python and dashboard outputs from structural errors. No aggressive deletion was needed, because the biggest missing-value patterns were contextual rather than invalid.</a:t>
            </a:r>
            <a:endParaRPr lang="en-US" sz="920" dirty="0"/>
          </a:p>
        </p:txBody>
      </p:sp>
      <p:sp>
        <p:nvSpPr>
          <p:cNvPr id="11" name="Text 6"/>
          <p:cNvSpPr/>
          <p:nvPr/>
        </p:nvSpPr>
        <p:spPr>
          <a:xfrm>
            <a:off x="6537960" y="489204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2F80ED"/>
                </a:solidFill>
              </a:rPr>
              <a:t>Submission value</a:t>
            </a:r>
            <a:endParaRPr lang="en-US" sz="940" dirty="0"/>
          </a:p>
        </p:txBody>
      </p:sp>
      <p:sp>
        <p:nvSpPr>
          <p:cNvPr id="12" name="Text 7"/>
          <p:cNvSpPr/>
          <p:nvPr/>
        </p:nvSpPr>
        <p:spPr>
          <a:xfrm>
            <a:off x="6537960" y="5157216"/>
            <a:ext cx="4892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The validation workbook and presentation document the quality controls evaluators expect: row checks, key checks, FK checks, null treatment and outlier review.</a:t>
            </a:r>
            <a:endParaRPr lang="en-US" sz="920" dirty="0"/>
          </a:p>
        </p:txBody>
      </p:sp>
      <p:sp>
        <p:nvSpPr>
          <p:cNvPr id="13" name="Text 8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4</a:t>
            </a:r>
            <a:endParaRPr lang="en-US" sz="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48506E-F7D0-44EE-AB60-8137EAFE6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17073"/>
            <a:ext cx="5029200" cy="7553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37744"/>
            <a:ext cx="3749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3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&amp; Analytical Methodology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429768" y="859536"/>
            <a:ext cx="7132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structure first → analyse patterns second → recommend only where evidence supports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46920" y="310896"/>
            <a:ext cx="2148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Chinmaya Panigrahi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03120" y="2862072"/>
            <a:ext cx="27432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995928" y="2862072"/>
            <a:ext cx="27432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88736" y="2862072"/>
            <a:ext cx="27432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81544" y="2862072"/>
            <a:ext cx="27432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74352" y="2862072"/>
            <a:ext cx="274320" cy="0"/>
          </a:xfrm>
          <a:prstGeom prst="line">
            <a:avLst/>
          </a:prstGeom>
          <a:noFill/>
          <a:ln w="25400">
            <a:solidFill>
              <a:srgbClr val="9FB3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57784" y="1700784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0352" y="1664208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" y="1664208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30352" y="1892808"/>
            <a:ext cx="1527048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1728216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77824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2157984"/>
            <a:ext cx="1271016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Row-count checks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PK / FK validation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Null classification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Outlier review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50592" y="1700784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23160" y="1664208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423160" y="1664208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23160" y="1892808"/>
            <a:ext cx="1527048" cy="164592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96312" y="1728216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70632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51176" y="2157984"/>
            <a:ext cx="1271016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7-table schema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PK/FK constraints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CSV ingestion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Post-load checks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43400" y="1700784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15968" y="1664208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315968" y="1664208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315968" y="1892808"/>
            <a:ext cx="1527048" cy="1645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0" y="1728216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63440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43984" y="2157984"/>
            <a:ext cx="1271016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SQL extraction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Cleaning &amp; transforms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EDA summaries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Visual checks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36208" y="1700784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08776" y="1664208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08776" y="1664208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08776" y="1892808"/>
            <a:ext cx="1527048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81928" y="1728216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556248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Statistics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36792" y="2157984"/>
            <a:ext cx="1271016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Hypothesis testing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Supported vs unsupported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Avoid overclaiming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 evidence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29016" y="1700784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01584" y="1664208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101584" y="1664208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101584" y="1892808"/>
            <a:ext cx="152704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174736" y="1728216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49056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229600" y="2157984"/>
            <a:ext cx="1271016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Executive overview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Fraud operations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Interactive slicers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KPI monitoring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021824" y="1700784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9994392" y="1664208"/>
            <a:ext cx="1527048" cy="2084832"/>
          </a:xfrm>
          <a:prstGeom prst="roundRect">
            <a:avLst>
              <a:gd name="adj" fmla="val 479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994392" y="1664208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9994392" y="1892808"/>
            <a:ext cx="1527048" cy="16459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10067544" y="1728216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0341864" y="1719072"/>
            <a:ext cx="111556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0122408" y="2157984"/>
            <a:ext cx="1271016" cy="1517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 insights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Recommendations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Impact scenarios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summary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0352" y="4315968"/>
            <a:ext cx="11128248" cy="1152144"/>
          </a:xfrm>
          <a:prstGeom prst="roundRect">
            <a:avLst>
              <a:gd name="adj" fmla="val 7937"/>
            </a:avLst>
          </a:prstGeom>
          <a:solidFill>
            <a:srgbClr val="FFFFFF"/>
          </a:solidFill>
          <a:ln w="1397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49808" y="4498848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 principle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138928" y="5120640"/>
            <a:ext cx="0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26680" y="5120640"/>
            <a:ext cx="0" cy="0"/>
          </a:xfrm>
          <a:prstGeom prst="line">
            <a:avLst/>
          </a:prstGeom>
          <a:noFill/>
          <a:ln w="20320">
            <a:solidFill>
              <a:srgbClr val="9FB3C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2121408" y="4782312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121408" y="4782312"/>
            <a:ext cx="82296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286000" y="4855464"/>
            <a:ext cx="2807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Validate structure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2286000" y="5065776"/>
            <a:ext cx="2788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keys, relationships, null logic and row counts.</a:t>
            </a:r>
            <a:endParaRPr lang="en-US" sz="760" dirty="0"/>
          </a:p>
        </p:txBody>
      </p:sp>
      <p:sp>
        <p:nvSpPr>
          <p:cNvPr id="62" name="Shape 60"/>
          <p:cNvSpPr/>
          <p:nvPr/>
        </p:nvSpPr>
        <p:spPr>
          <a:xfrm>
            <a:off x="4709160" y="4782312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709160" y="4782312"/>
            <a:ext cx="82296" cy="6583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73752" y="4855464"/>
            <a:ext cx="2807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Analyse patterns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4873752" y="5065776"/>
            <a:ext cx="2423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Python, EDA and statistics to separate signal </a:t>
            </a:r>
            <a:r>
              <a:rPr lang="en-US" sz="76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</a:t>
            </a:r>
          </a:p>
          <a:p>
            <a:pPr marL="0" indent="0" algn="l">
              <a:buNone/>
            </a:pPr>
            <a:r>
              <a:rPr lang="en-US" sz="76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</a:t>
            </a: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760" dirty="0"/>
          </a:p>
        </p:txBody>
      </p:sp>
      <p:sp>
        <p:nvSpPr>
          <p:cNvPr id="66" name="Shape 64"/>
          <p:cNvSpPr/>
          <p:nvPr/>
        </p:nvSpPr>
        <p:spPr>
          <a:xfrm>
            <a:off x="7333488" y="4782312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333488" y="4782312"/>
            <a:ext cx="82296" cy="658368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98080" y="4855464"/>
            <a:ext cx="28072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Recommend actions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7498080" y="5065776"/>
            <a:ext cx="27889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only evidence-backed findings into business actions.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530352" y="5696712"/>
            <a:ext cx="8138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IN" sz="920" b="1" dirty="0">
                <a:solidFill>
                  <a:srgbClr val="1F2937"/>
                </a:solidFill>
                <a:latin typeface="Aptos" pitchFamily="34" charset="0"/>
              </a:rPr>
              <a:t>Result: a complete workflow that can be checked and reproduced.</a:t>
            </a:r>
            <a:endParaRPr lang="en-US" sz="920" b="1" dirty="0">
              <a:solidFill>
                <a:srgbClr val="1F2937"/>
              </a:solidFill>
              <a:latin typeface="Aptos" pitchFamily="34" charset="0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11480" y="6464808"/>
            <a:ext cx="1138428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Adda247 Capstone Project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11503152" y="6510528"/>
            <a:ext cx="27432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68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KPI Overview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70432"/>
          <a:ext cx="11018520" cy="914400"/>
        </p:xfrm>
        <a:graphic>
          <a:graphicData uri="http://schemas.openxmlformats.org/drawingml/2006/table">
            <a:tbl>
              <a:tblPr/>
              <a:tblGrid>
                <a:gridCol w="2203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Transactions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Transaction Amount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Average Amount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 Rate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 Rate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100K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INR 4.24M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INR 42.42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F59E0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5.87%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D645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2.00%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Image 0" descr="/mnt/data/slide_assets/executive_dashboard.png"/>
          <p:cNvPicPr>
            <a:picLocks noChangeAspect="1"/>
          </p:cNvPicPr>
          <p:nvPr/>
        </p:nvPicPr>
        <p:blipFill>
          <a:blip r:embed="rId3"/>
          <a:srcRect t="4396" b="4396"/>
          <a:stretch/>
        </p:blipFill>
        <p:spPr>
          <a:xfrm>
            <a:off x="685800" y="2395728"/>
            <a:ext cx="6446520" cy="3154680"/>
          </a:xfrm>
          <a:prstGeom prst="rect">
            <a:avLst/>
          </a:prstGeom>
        </p:spPr>
      </p:pic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800" y="2304288"/>
          <a:ext cx="3794760" cy="3246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Executive reading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Scale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100K transactions provide sufficient volume for operational monitoring.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Reliability gap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5.87% failure rate points to measurable friction.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 baseline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2.00% observed fraud-flag rate becomes the core risk KPI.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Dashboard purpose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 leaders to monitor volume, failure and fraud together.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&amp; Operational Insights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3108960"/>
          <a:ext cx="2651760" cy="192024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 reason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Incorrect PIN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1,511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25.74%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error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1,486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25.31%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Account blocked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1,455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24.78%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Bank down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1,419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24.17%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4"/>
          <p:cNvSpPr/>
          <p:nvPr/>
        </p:nvSpPr>
        <p:spPr>
          <a:xfrm>
            <a:off x="9098280" y="32004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F59E0B"/>
                </a:solidFill>
              </a:rPr>
              <a:t>Key operational message</a:t>
            </a:r>
            <a:endParaRPr lang="en-US" sz="940" dirty="0"/>
          </a:p>
        </p:txBody>
      </p:sp>
      <p:sp>
        <p:nvSpPr>
          <p:cNvPr id="12" name="Text 5"/>
          <p:cNvSpPr/>
          <p:nvPr/>
        </p:nvSpPr>
        <p:spPr>
          <a:xfrm>
            <a:off x="9098280" y="3465576"/>
            <a:ext cx="23774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Failure causes are nearly evenly distributed. Improving reliability needs a multi-cause programme rather than fixing only one category.</a:t>
            </a:r>
            <a:endParaRPr lang="en-US" sz="920" dirty="0"/>
          </a:p>
        </p:txBody>
      </p:sp>
      <p:sp>
        <p:nvSpPr>
          <p:cNvPr id="13" name="Text 6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4" name="Text 7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7</a:t>
            </a:r>
            <a:endParaRPr lang="en-US" sz="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CE1AB05-BF77-A92E-03C4-EA664E898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81599"/>
            <a:ext cx="5257800" cy="17138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698183-6BFE-2DFE-75E5-5F1567852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087628"/>
            <a:ext cx="3017520" cy="155498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7DB07CF-B007-BA62-AB2A-A25A67D29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1081600"/>
            <a:ext cx="2651760" cy="15549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EAEFF1-60CF-4974-2FDD-47F962FA5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1" y="3105033"/>
            <a:ext cx="5257799" cy="19202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Risk: Rooted Device Finding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134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Rooted fraud rate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Non-rooted fraud rate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Rooted fraud flags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gap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D645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20.69%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4B8A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1.39%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D645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656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~14.9x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606040"/>
          <a:ext cx="3840480" cy="2286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Rooted transactions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3,171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Rooted share of transaction volume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3.17%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Rooted fraud flags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656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Rooted share of all fraud flags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32.8%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priority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1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Device-integrity controls</a:t>
                      </a:r>
                      <a:endParaRPr lang="en-US" sz="9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68680" y="388620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D64545"/>
                </a:solidFill>
              </a:rPr>
              <a:t>Interpretation</a:t>
            </a:r>
            <a:endParaRPr lang="en-US" sz="940" dirty="0"/>
          </a:p>
        </p:txBody>
      </p:sp>
      <p:sp>
        <p:nvSpPr>
          <p:cNvPr id="10" name="Text 5"/>
          <p:cNvSpPr/>
          <p:nvPr/>
        </p:nvSpPr>
        <p:spPr>
          <a:xfrm>
            <a:off x="868680" y="4151376"/>
            <a:ext cx="46634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Rooted-device status is the strongest validated risk signal in the project. Describe it as an association, not as proof that rooting causes fraud.</a:t>
            </a:r>
            <a:endParaRPr lang="en-US" sz="920" dirty="0"/>
          </a:p>
        </p:txBody>
      </p:sp>
      <p:sp>
        <p:nvSpPr>
          <p:cNvPr id="11" name="Text 6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8</a:t>
            </a:r>
            <a:endParaRPr lang="en-US" sz="7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C75955-F36C-B115-022C-769205CAF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79" y="1183384"/>
            <a:ext cx="4663439" cy="19907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Validation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208265"/>
              </p:ext>
            </p:extLst>
          </p:nvPr>
        </p:nvGraphicFramePr>
        <p:xfrm>
          <a:off x="640080" y="1280160"/>
          <a:ext cx="5852160" cy="38404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IN" sz="900" b="1" kern="1200">
                          <a:solidFill>
                            <a:srgbClr val="FFFFFF"/>
                          </a:solidFill>
                          <a:latin typeface="Aptos" pitchFamily="34" charset="0"/>
                          <a:ea typeface="+mn-ea"/>
                          <a:cs typeface="+mn-cs"/>
                        </a:rPr>
                        <a:t>Evidence</a:t>
                      </a:r>
                      <a:r>
                        <a:rPr lang="en-IN" sz="900" b="1" kern="120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 / test area</a:t>
                      </a:r>
                      <a:endParaRPr lang="en-US" sz="900" b="1" kern="1200" dirty="0">
                        <a:solidFill>
                          <a:srgbClr val="FFFFFF"/>
                        </a:solidFill>
                        <a:latin typeface="Aptos" pitchFamily="34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interpretation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Rooted device status vs fraud flag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Supported by completed Step-7 testing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 integrity is a meaningful risk-monitoring signal.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Transaction channel vs fraud flag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 = 0.143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statistically significant channel-fraud association was detected.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Failure-pattern analysis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failure reasons are balanced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response should address all major causes.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Entity fraud ratios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ratios appear with tiny transaction counts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denominator context before escalation.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903720" y="3429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40" b="1" dirty="0">
                <a:solidFill>
                  <a:srgbClr val="7C3AED"/>
                </a:solidFill>
              </a:rPr>
              <a:t>Interpretation</a:t>
            </a:r>
            <a:endParaRPr lang="en-US" sz="940" dirty="0"/>
          </a:p>
        </p:txBody>
      </p:sp>
      <p:sp>
        <p:nvSpPr>
          <p:cNvPr id="9" name="Text 5"/>
          <p:cNvSpPr/>
          <p:nvPr/>
        </p:nvSpPr>
        <p:spPr>
          <a:xfrm>
            <a:off x="6903720" y="3694176"/>
            <a:ext cx="4297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1F2937"/>
                </a:solidFill>
              </a:rPr>
              <a:t>The dashboard may show small channel differences, but the statistical test does not support channel-specific restrictions. </a:t>
            </a:r>
            <a:r>
              <a:rPr lang="en-IN" sz="920" dirty="0">
                <a:solidFill>
                  <a:srgbClr val="1F2937"/>
                </a:solidFill>
              </a:rPr>
              <a:t>Therefore, I did not recommend channel-specific restrictions.</a:t>
            </a:r>
            <a:endParaRPr lang="en-US" sz="920" dirty="0">
              <a:solidFill>
                <a:srgbClr val="1F2937"/>
              </a:solidFill>
            </a:endParaRPr>
          </a:p>
        </p:txBody>
      </p:sp>
      <p:sp>
        <p:nvSpPr>
          <p:cNvPr id="6" name="Text 6"/>
          <p:cNvSpPr/>
          <p:nvPr/>
        </p:nvSpPr>
        <p:spPr>
          <a:xfrm>
            <a:off x="6903720" y="498348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4B8A6"/>
                </a:solidFill>
              </a:rPr>
              <a:t>Good analytical practice</a:t>
            </a:r>
            <a:endParaRPr lang="en-US" sz="940" dirty="0"/>
          </a:p>
        </p:txBody>
      </p:sp>
      <p:sp>
        <p:nvSpPr>
          <p:cNvPr id="11" name="Text 7"/>
          <p:cNvSpPr/>
          <p:nvPr/>
        </p:nvSpPr>
        <p:spPr>
          <a:xfrm>
            <a:off x="6903720" y="5248656"/>
            <a:ext cx="42976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IN" sz="920" dirty="0">
                <a:solidFill>
                  <a:srgbClr val="1F2937"/>
                </a:solidFill>
              </a:rPr>
              <a:t>I used statistical tests to check whether visual differences were meaningful.</a:t>
            </a:r>
            <a:r>
              <a:rPr lang="en-US" sz="920" dirty="0">
                <a:solidFill>
                  <a:srgbClr val="1F2937"/>
                </a:solidFill>
              </a:rPr>
              <a:t>That is what makes the project decision-ready.</a:t>
            </a:r>
            <a:endParaRPr lang="en-US" sz="920" dirty="0"/>
          </a:p>
        </p:txBody>
      </p:sp>
      <p:sp>
        <p:nvSpPr>
          <p:cNvPr id="12" name="Text 8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9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AFEC67-3A91-DE81-2822-8C7E5394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640" y="1274063"/>
            <a:ext cx="48514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Alert &amp; Entity Monitoring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137943"/>
              </p:ext>
            </p:extLst>
          </p:nvPr>
        </p:nvGraphicFramePr>
        <p:xfrm>
          <a:off x="8051800" y="1362456"/>
          <a:ext cx="3563620" cy="750124"/>
        </p:xfrm>
        <a:graphic>
          <a:graphicData uri="http://schemas.openxmlformats.org/drawingml/2006/table">
            <a:tbl>
              <a:tblPr/>
              <a:tblGrid>
                <a:gridCol w="89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Fraud alerts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Unresolved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40" dirty="0">
                          <a:solidFill>
                            <a:srgbClr val="64748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Resolution rate</a:t>
                      </a:r>
                      <a:endParaRPr lang="en-US" sz="7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7324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2,000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4B8A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1,752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D6454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50" b="1" dirty="0">
                          <a:solidFill>
                            <a:srgbClr val="14B8A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87.60%</a:t>
                      </a:r>
                      <a:endParaRPr lang="en-US" sz="17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31520" y="5715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24D"/>
                </a:solidFill>
              </a:rPr>
              <a:t>Monitoring principle: use fraud ratio together with transaction count and fraud-flag count. A high percentage on one transaction is not the same as high business exposure.</a:t>
            </a:r>
            <a:endParaRPr lang="en-US" sz="1150" dirty="0"/>
          </a:p>
        </p:txBody>
      </p:sp>
      <p:sp>
        <p:nvSpPr>
          <p:cNvPr id="12" name="Text 5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13" name="Text 6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82DD237-159A-4734-4547-74B8F58E9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" y="1234439"/>
            <a:ext cx="3721100" cy="17399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1646EDF-00F0-FDA4-7B2C-A4400C6C3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34439"/>
            <a:ext cx="3708400" cy="20116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0F9A4DB-FF04-29FC-3CAD-21F03A225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80" y="3584133"/>
            <a:ext cx="4267200" cy="18287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8C5674-BDB4-A129-D697-ECC9FE453B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584133"/>
            <a:ext cx="4914900" cy="18287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Recommendations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55680" cy="406908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Priority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Recommendation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basis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Strengthen rooted-device controls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20.69% rooted fraud rate vs 1.39% non-rooted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Device-integrity checks, step-up authentication, enhanced monitoring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 transaction reliability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5,871 failures across four balanced causes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PIN guidance, network resilience, blocked-account and bank-availability review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unresolved alert backlog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 unresolved alerts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Ageing, prioritization, SLA ownership and review cadence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Avoid unsupported channel restrictions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Channel p = 0.143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Continue cross-channel monitoring without premature channel blocking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exposure-aware entity monitoring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ratios can occur on tiny counts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Combine fraud ratio with transactions and fraud flags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562356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200" b="1" dirty="0">
                <a:solidFill>
                  <a:srgbClr val="17324D"/>
                </a:solidFill>
              </a:rPr>
              <a:t>I prioritized rooted-device risk first, followed by transaction failures and the unresolved-alert backlog.</a:t>
            </a:r>
            <a:endParaRPr lang="en-US" sz="1200" b="1" dirty="0">
              <a:solidFill>
                <a:srgbClr val="17324D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UPI Transaction Analysis | Capstone Project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4846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Impact &amp; Conclusion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235440" y="2560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</a:rPr>
              <a:t>Chinmaya Panigrahi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950976"/>
            <a:ext cx="113842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6583680" cy="251460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Scenario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Illustrative impact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25% reduction in rooted-device fraud flags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~164 fewer fraud flags; fraud flags fall from 2,000 to ~1,836; observed fraud rate ~1.84%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1732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 reduction in transaction failures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~587 fewer failures; failures fall from 5,871 to ~5,284; failure rate ~5.28%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Resolve half of unresolved alert backlog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4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Unresolved alerts fall from 248 to 124; resolution rate rises from 87.60% to ~93.80%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14400" y="4343400"/>
            <a:ext cx="5257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17324D"/>
                </a:solidFill>
              </a:rPr>
              <a:t>Final conclusion</a:t>
            </a:r>
            <a:endParaRPr lang="en-US" sz="940" dirty="0"/>
          </a:p>
        </p:txBody>
      </p:sp>
      <p:sp>
        <p:nvSpPr>
          <p:cNvPr id="9" name="Text 5"/>
          <p:cNvSpPr/>
          <p:nvPr/>
        </p:nvSpPr>
        <p:spPr>
          <a:xfrm>
            <a:off x="914400" y="4608576"/>
            <a:ext cx="52578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The capstone delivers a validated end-to-end analytics workflow and a decision-ready monitoring solution. The clearest priority is rooted-device risk, followed by multi-cause failure reduction and alert backlog management.</a:t>
            </a:r>
            <a:endParaRPr lang="en-US" sz="920" dirty="0"/>
          </a:p>
        </p:txBody>
      </p:sp>
      <p:sp>
        <p:nvSpPr>
          <p:cNvPr id="10" name="Text 6"/>
          <p:cNvSpPr/>
          <p:nvPr/>
        </p:nvSpPr>
        <p:spPr>
          <a:xfrm>
            <a:off x="6400800" y="434340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40" b="1" dirty="0">
                <a:solidFill>
                  <a:srgbClr val="F59E0B"/>
                </a:solidFill>
              </a:rPr>
              <a:t>Note on estimates</a:t>
            </a:r>
            <a:endParaRPr lang="en-US" sz="940" dirty="0"/>
          </a:p>
        </p:txBody>
      </p:sp>
      <p:sp>
        <p:nvSpPr>
          <p:cNvPr id="11" name="Text 7"/>
          <p:cNvSpPr/>
          <p:nvPr/>
        </p:nvSpPr>
        <p:spPr>
          <a:xfrm>
            <a:off x="6400800" y="4608576"/>
            <a:ext cx="4526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2937"/>
                </a:solidFill>
              </a:rPr>
              <a:t>The impact values are scenario estimates based on observed metrics. They are not forecasts and should be validated after implementation.</a:t>
            </a:r>
            <a:endParaRPr lang="en-US" sz="920" dirty="0"/>
          </a:p>
        </p:txBody>
      </p:sp>
      <p:sp>
        <p:nvSpPr>
          <p:cNvPr id="12" name="Text 8"/>
          <p:cNvSpPr/>
          <p:nvPr/>
        </p:nvSpPr>
        <p:spPr>
          <a:xfrm>
            <a:off x="411480" y="656539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UPI Transaction Analysis | Adda247 Capstone Project</a:t>
            </a:r>
            <a:endParaRPr lang="en-US" sz="750" dirty="0"/>
          </a:p>
        </p:txBody>
      </p:sp>
      <p:sp>
        <p:nvSpPr>
          <p:cNvPr id="6" name="Text 9"/>
          <p:cNvSpPr/>
          <p:nvPr/>
        </p:nvSpPr>
        <p:spPr>
          <a:xfrm>
            <a:off x="11411712" y="65562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079CB6-3325-EB6F-931A-A77C707DC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25878"/>
            <a:ext cx="4160520" cy="2514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1381</Words>
  <Application>Microsoft Macintosh PowerPoint</Application>
  <PresentationFormat>Widescreen</PresentationFormat>
  <Paragraphs>313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Adda247 Capstone Project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Transaction Analysis</dc:title>
  <dc:subject>UPI Transaction Analysis Capstone</dc:subject>
  <dc:creator>Chinmaya Panigrahi</dc:creator>
  <cp:keywords/>
  <dc:description/>
  <cp:lastModifiedBy>chinmayapanigrahi1</cp:lastModifiedBy>
  <cp:revision>6</cp:revision>
  <dcterms:created xsi:type="dcterms:W3CDTF">2026-09-14T08:46:51Z</dcterms:created>
  <dcterms:modified xsi:type="dcterms:W3CDTF">2026-09-23T13:26:27Z</dcterms:modified>
  <cp:category/>
</cp:coreProperties>
</file>