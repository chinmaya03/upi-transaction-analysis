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23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8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2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470916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26280" y="0"/>
            <a:ext cx="182880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PROJECT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UPI Transaction</a:t>
            </a:r>
            <a:endParaRPr lang="en-US" sz="3600" dirty="0"/>
          </a:p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04088" y="34564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D9E2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Analytics with GenAI — Capstone Project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13232" y="5440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Business</a:t>
            </a:r>
            <a:r>
              <a:rPr lang="en-IN" sz="1000" dirty="0"/>
              <a:t> </a:t>
            </a:r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Understanding</a:t>
            </a:r>
            <a:r>
              <a:rPr lang="en-IN" sz="1000" dirty="0"/>
              <a:t> </a:t>
            </a:r>
            <a:r>
              <a:rPr lang="en-IN" sz="1000" dirty="0">
                <a:solidFill>
                  <a:srgbClr val="D6E4F0"/>
                </a:solidFill>
              </a:rPr>
              <a:t>&amp;</a:t>
            </a:r>
            <a:r>
              <a:rPr lang="en-IN" sz="1000" dirty="0"/>
              <a:t> </a:t>
            </a:r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Data</a:t>
            </a:r>
            <a:r>
              <a:rPr lang="en-IN" sz="1000" dirty="0"/>
              <a:t> </a:t>
            </a:r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Validation</a:t>
            </a:r>
          </a:p>
          <a:p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Chinmaya</a:t>
            </a:r>
            <a:r>
              <a:rPr lang="en-IN" sz="1000" dirty="0"/>
              <a:t> </a:t>
            </a:r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Panigrahi</a:t>
            </a:r>
            <a:r>
              <a:rPr lang="en-IN" sz="1000" dirty="0"/>
              <a:t> </a:t>
            </a:r>
          </a:p>
          <a:p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Registration</a:t>
            </a:r>
            <a:r>
              <a:rPr lang="en-IN" sz="1000" dirty="0"/>
              <a:t> </a:t>
            </a:r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ID:</a:t>
            </a:r>
            <a:r>
              <a:rPr lang="en-IN" sz="1000" dirty="0"/>
              <a:t> </a:t>
            </a:r>
            <a:r>
              <a:rPr lang="en-IN" sz="1000" dirty="0">
                <a:solidFill>
                  <a:srgbClr val="D9E2EC"/>
                </a:solidFill>
                <a:latin typeface="Aptos" pitchFamily="34" charset="0"/>
              </a:rPr>
              <a:t>24CRD05066</a:t>
            </a:r>
            <a:endParaRPr lang="en-US" sz="1000" dirty="0">
              <a:solidFill>
                <a:srgbClr val="D9E2EC"/>
              </a:solidFill>
              <a:latin typeface="Aptos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49240" y="100584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IN" sz="2500" dirty="0">
                <a:solidFill>
                  <a:srgbClr val="0B1F3A"/>
                </a:solidFill>
                <a:latin typeface="Aptos Display" pitchFamily="34" charset="0"/>
              </a:rPr>
              <a:t>This project studies transaction performance, failures, fraud patterns and alert resolution using Excel, SQL, Python and Power BI.</a:t>
            </a:r>
            <a:endParaRPr lang="en-US" sz="2500" dirty="0">
              <a:solidFill>
                <a:srgbClr val="0B1F3A"/>
              </a:solidFill>
              <a:latin typeface="Aptos Display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49240" y="2788920"/>
            <a:ext cx="1691640" cy="1600200"/>
          </a:xfrm>
          <a:prstGeom prst="roundRect">
            <a:avLst>
              <a:gd name="adj" fmla="val 6857"/>
            </a:avLst>
          </a:prstGeom>
          <a:solidFill>
            <a:srgbClr val="F3F6F8"/>
          </a:solidFill>
          <a:ln w="12700">
            <a:solidFill>
              <a:srgbClr val="D9E2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61304" y="3017520"/>
            <a:ext cx="658368" cy="65836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61304" y="309981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13832" y="3867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2788920"/>
            <a:ext cx="1691640" cy="1600200"/>
          </a:xfrm>
          <a:prstGeom prst="roundRect">
            <a:avLst>
              <a:gd name="adj" fmla="val 6857"/>
            </a:avLst>
          </a:prstGeom>
          <a:solidFill>
            <a:srgbClr val="F3F6F8"/>
          </a:solidFill>
          <a:ln w="12700">
            <a:solidFill>
              <a:srgbClr val="D9E2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18704" y="3017520"/>
            <a:ext cx="658368" cy="65836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18704" y="309981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71232" y="3867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464040" y="2788920"/>
            <a:ext cx="1691640" cy="1600200"/>
          </a:xfrm>
          <a:prstGeom prst="roundRect">
            <a:avLst>
              <a:gd name="adj" fmla="val 6857"/>
            </a:avLst>
          </a:prstGeom>
          <a:solidFill>
            <a:srgbClr val="F3F6F8"/>
          </a:solidFill>
          <a:ln w="12700">
            <a:solidFill>
              <a:srgbClr val="D9E2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976104" y="3017520"/>
            <a:ext cx="658368" cy="65836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76104" y="309981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28632" y="3867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49240" y="5047488"/>
            <a:ext cx="5349240" cy="4572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532180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1: Business Understanding &amp; Analytical Planning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PLATFORM SCALE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Context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5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This project focuses on transaction reliability, fraud monitoring and merchant performance.</a:t>
            </a:r>
            <a:endParaRPr lang="en-US" sz="1500" dirty="0">
              <a:solidFill>
                <a:srgbClr val="17324D"/>
              </a:solidFill>
              <a:latin typeface="Calibri Light" pitchFamily="34" charset="0"/>
              <a:cs typeface="Calibri Light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78408" y="239572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78408" y="241858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18488" y="239572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Growth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18488" y="2798064"/>
            <a:ext cx="210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3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Large</a:t>
            </a:r>
            <a:r>
              <a:rPr lang="en-IN" sz="1400" b="1" dirty="0"/>
              <a:t> </a:t>
            </a:r>
            <a:r>
              <a:rPr lang="en-IN" sz="13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and</a:t>
            </a:r>
            <a:r>
              <a:rPr lang="en-IN" sz="1400" b="1" dirty="0"/>
              <a:t> </a:t>
            </a:r>
            <a:r>
              <a:rPr lang="en-IN" sz="13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diverse</a:t>
            </a:r>
            <a:r>
              <a:rPr lang="en-IN" sz="1400" b="1" dirty="0"/>
              <a:t> </a:t>
            </a:r>
            <a:r>
              <a:rPr lang="en-IN" sz="13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customer</a:t>
            </a:r>
            <a:r>
              <a:rPr lang="en-IN" sz="1400" b="1" dirty="0"/>
              <a:t> </a:t>
            </a:r>
            <a:r>
              <a:rPr lang="en-IN" sz="13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ecosystem</a:t>
            </a:r>
            <a:r>
              <a:rPr lang="en-IN" sz="1400" b="1" dirty="0"/>
              <a:t> </a:t>
            </a:r>
            <a:r>
              <a:rPr lang="en-US" sz="13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the transaction platform.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219456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81728" y="239572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81728" y="241858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21808" y="239572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Expansion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21808" y="2798064"/>
            <a:ext cx="210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3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Broad merchant participation across the UPI ecosystem.</a:t>
            </a:r>
            <a:endParaRPr lang="en-US" sz="1300" dirty="0">
              <a:solidFill>
                <a:srgbClr val="17324D"/>
              </a:solidFill>
              <a:latin typeface="Calibri Light" pitchFamily="34" charset="0"/>
              <a:cs typeface="Calibri Light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83880" y="219456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85048" y="239572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85048" y="241858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5128" y="239572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Volume Surges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025128" y="2798064"/>
            <a:ext cx="210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400" dirty="0"/>
              <a:t>High transaction volumes require regular and reliable monitoring.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983480"/>
            <a:ext cx="10424160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1560" y="51937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My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focus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was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to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convert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the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raw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data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into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clear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KPIs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and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useful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risk</a:t>
            </a:r>
            <a:r>
              <a:rPr lang="en-IN" sz="1600" dirty="0"/>
              <a:t> </a:t>
            </a:r>
            <a:r>
              <a:rPr lang="en-IN" sz="1600" b="1" dirty="0">
                <a:solidFill>
                  <a:srgbClr val="FFFFFF"/>
                </a:solidFill>
                <a:latin typeface="Aptos" pitchFamily="34" charset="0"/>
              </a:rPr>
              <a:t>insights.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BUSINESS CHALLENGES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Space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60020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78408" y="180136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18242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8488" y="180136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Risk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18488" y="2203704"/>
            <a:ext cx="3566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Mitigate suspicious transaction activity.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60020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36208" y="180136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36208" y="18242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76288" y="180136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76288" y="2203704"/>
            <a:ext cx="3566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25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Understand and reduce transaction failures</a:t>
            </a:r>
            <a:r>
              <a:rPr lang="en-IN" sz="1400" dirty="0"/>
              <a:t>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347472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8408" y="367588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" y="369874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18488" y="367588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Trust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18488" y="4078224"/>
            <a:ext cx="3566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Maintain user trust and platform stability.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3474720"/>
            <a:ext cx="4617720" cy="1417320"/>
          </a:xfrm>
          <a:prstGeom prst="roundRect">
            <a:avLst>
              <a:gd name="adj" fmla="val 5161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36208" y="367588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36208" y="369874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76288" y="3675888"/>
            <a:ext cx="3593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76288" y="4078224"/>
            <a:ext cx="3566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25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Track and reduce unresolved fraud alerts.</a:t>
            </a:r>
            <a:endParaRPr lang="en-US" sz="1250" dirty="0">
              <a:solidFill>
                <a:srgbClr val="17324D"/>
              </a:solidFill>
              <a:latin typeface="Calibri Light" pitchFamily="34" charset="0"/>
              <a:cs typeface="Calibri Light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7240" y="5486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challenges define the analytical scope for the capstone presentation.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OPERATIONAL QUESTIONS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Analytical Direction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analysis is organized around four decisions the business needs to make: risk, bottlenecks, control effectiveness, and monitoring priorities.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22860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86968" y="248716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25100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27048" y="2487168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 Risk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1527048" y="2889504"/>
            <a:ext cx="13716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segments with higher fraud exposure.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3520440" y="22860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21608" y="248716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21608" y="25100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61688" y="2487168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Journey Bottlenecks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4361688" y="2889504"/>
            <a:ext cx="13716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Locate friction points across customer and merchant flows.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55080" y="22860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56248" y="248716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56248" y="25100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🧭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96328" y="2487168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Controls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7196328" y="2889504"/>
            <a:ext cx="13716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Assess whether controls and alerts are effective.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9189720" y="22860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90888" y="248716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90888" y="25100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30968" y="2487168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Monitoring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10030968" y="2889504"/>
            <a:ext cx="13716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Track entity performance and improvement opportunities.</a:t>
            </a:r>
            <a:endParaRPr lang="en-US" sz="1110" dirty="0"/>
          </a:p>
        </p:txBody>
      </p:sp>
      <p:sp>
        <p:nvSpPr>
          <p:cNvPr id="30" name="Shape 28"/>
          <p:cNvSpPr/>
          <p:nvPr/>
        </p:nvSpPr>
        <p:spPr>
          <a:xfrm>
            <a:off x="1828800" y="5166360"/>
            <a:ext cx="8366760" cy="621792"/>
          </a:xfrm>
          <a:prstGeom prst="roundRect">
            <a:avLst>
              <a:gd name="adj" fmla="val 11765"/>
            </a:avLst>
          </a:prstGeom>
          <a:solidFill>
            <a:srgbClr val="F3F6F8"/>
          </a:solidFill>
          <a:ln w="12700">
            <a:solidFill>
              <a:srgbClr val="D9E2EC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057400" y="53492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IN" sz="1400" b="1" dirty="0">
                <a:solidFill>
                  <a:srgbClr val="0B1F3A"/>
                </a:solidFill>
                <a:latin typeface="Aptos" pitchFamily="34" charset="0"/>
              </a:rPr>
              <a:t>The goal is to turn these business questions into measurable KPIs and dashboard insights.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Operational Questions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6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13350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bank for analysis planning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874520"/>
            <a:ext cx="2926080" cy="61264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1929384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Area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703320" y="1874520"/>
            <a:ext cx="7635240" cy="61264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13048" y="1929384"/>
            <a:ext cx="7415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Question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77240" y="2487168"/>
            <a:ext cx="2926080" cy="61264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54203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Fraud Segmentation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3703320" y="2487168"/>
            <a:ext cx="7635240" cy="61264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13048" y="2542032"/>
            <a:ext cx="7415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Are certain segments at higher risk of transaction fraud?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777240" y="3099816"/>
            <a:ext cx="29260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6968" y="31546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Journey Reliability</a:t>
            </a:r>
            <a:endParaRPr lang="en-US" sz="1190" dirty="0"/>
          </a:p>
        </p:txBody>
      </p:sp>
      <p:sp>
        <p:nvSpPr>
          <p:cNvPr id="21" name="Shape 19"/>
          <p:cNvSpPr/>
          <p:nvPr/>
        </p:nvSpPr>
        <p:spPr>
          <a:xfrm>
            <a:off x="3703320" y="3099816"/>
            <a:ext cx="7635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13048" y="3154680"/>
            <a:ext cx="7415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do bottlenecks occur in the customer or merchant journey?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777240" y="3712464"/>
            <a:ext cx="2926080" cy="61264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86968" y="376732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Risk Controls</a:t>
            </a:r>
            <a:endParaRPr lang="en-US" sz="1190" dirty="0"/>
          </a:p>
        </p:txBody>
      </p:sp>
      <p:sp>
        <p:nvSpPr>
          <p:cNvPr id="25" name="Shape 23"/>
          <p:cNvSpPr/>
          <p:nvPr/>
        </p:nvSpPr>
        <p:spPr>
          <a:xfrm>
            <a:off x="3703320" y="3712464"/>
            <a:ext cx="7635240" cy="612648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13048" y="3767328"/>
            <a:ext cx="7415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effective are current risk controls and fraud alerts?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777240" y="4325112"/>
            <a:ext cx="29260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6968" y="4379976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Monitoring &amp; Improvement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3703320" y="4325112"/>
            <a:ext cx="7635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813048" y="4379976"/>
            <a:ext cx="7415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can performance across entities be monitored and improved?</a:t>
            </a:r>
            <a:endParaRPr lang="en-US" sz="1190" dirty="0"/>
          </a:p>
        </p:txBody>
      </p:sp>
      <p:sp>
        <p:nvSpPr>
          <p:cNvPr id="31" name="Shape 29"/>
          <p:cNvSpPr/>
          <p:nvPr/>
        </p:nvSpPr>
        <p:spPr>
          <a:xfrm>
            <a:off x="777240" y="4937760"/>
            <a:ext cx="1056132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77240" y="5349240"/>
            <a:ext cx="10561320" cy="502920"/>
          </a:xfrm>
          <a:prstGeom prst="roundRect">
            <a:avLst>
              <a:gd name="adj" fmla="val 14545"/>
            </a:avLst>
          </a:prstGeom>
          <a:solidFill>
            <a:srgbClr val="F3F6F8"/>
          </a:solidFill>
          <a:ln w="12700">
            <a:solidFill>
              <a:srgbClr val="D9E2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5840" y="5495544"/>
            <a:ext cx="9921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note: each question maps directly to a dashboard or statistical validation step.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 ANALYTICAL GOALS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Focus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187452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9848" y="207568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209854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09928" y="2075688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Behavioral Patterns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1709928" y="2478024"/>
            <a:ext cx="20116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Analyze transactional and risk data to identify customer and merchant trends.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73168" y="207568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73168" y="209854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13248" y="2075688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Dashboards</a:t>
            </a:r>
            <a:endParaRPr lang="en-US" sz="1530" dirty="0"/>
          </a:p>
        </p:txBody>
      </p:sp>
      <p:sp>
        <p:nvSpPr>
          <p:cNvPr id="18" name="Text 16"/>
          <p:cNvSpPr/>
          <p:nvPr/>
        </p:nvSpPr>
        <p:spPr>
          <a:xfrm>
            <a:off x="5413248" y="2478024"/>
            <a:ext cx="20116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 interactive Power BI monitors for data-driven decision-making.</a:t>
            </a:r>
            <a:endParaRPr lang="en-US" sz="1170" dirty="0"/>
          </a:p>
        </p:txBody>
      </p:sp>
      <p:sp>
        <p:nvSpPr>
          <p:cNvPr id="19" name="Shape 17"/>
          <p:cNvSpPr/>
          <p:nvPr/>
        </p:nvSpPr>
        <p:spPr>
          <a:xfrm>
            <a:off x="8275320" y="1874520"/>
            <a:ext cx="3063240" cy="2468880"/>
          </a:xfrm>
          <a:prstGeom prst="roundRect">
            <a:avLst>
              <a:gd name="adj" fmla="val 2963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476488" y="207568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76488" y="209854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16568" y="2075688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Actionable Strategy</a:t>
            </a:r>
            <a:endParaRPr lang="en-US" sz="1530" dirty="0"/>
          </a:p>
        </p:txBody>
      </p:sp>
      <p:sp>
        <p:nvSpPr>
          <p:cNvPr id="23" name="Text 21"/>
          <p:cNvSpPr/>
          <p:nvPr/>
        </p:nvSpPr>
        <p:spPr>
          <a:xfrm>
            <a:off x="9116568" y="2478024"/>
            <a:ext cx="201168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 data-backed recommendations to optimize operations and secure the platform.</a:t>
            </a:r>
            <a:endParaRPr lang="en-US" sz="1170" dirty="0"/>
          </a:p>
        </p:txBody>
      </p:sp>
      <p:sp>
        <p:nvSpPr>
          <p:cNvPr id="24" name="Text 22"/>
          <p:cNvSpPr/>
          <p:nvPr/>
        </p:nvSpPr>
        <p:spPr>
          <a:xfrm>
            <a:off x="960120" y="51023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IN" sz="1500" dirty="0">
                <a:solidFill>
                  <a:srgbClr val="17324D"/>
                </a:solidFill>
                <a:latin typeface="Calibri Light" pitchFamily="34" charset="0"/>
                <a:cs typeface="Calibri Light" pitchFamily="34" charset="-120"/>
              </a:rPr>
              <a:t>The dashboard is designed to present the main findings clearly for business users.</a:t>
            </a:r>
            <a:endParaRPr lang="en-US" sz="1500" dirty="0">
              <a:solidFill>
                <a:srgbClr val="17324D"/>
              </a:solidFill>
              <a:latin typeface="Calibri Light" pitchFamily="34" charset="0"/>
              <a:cs typeface="Calibri Light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PLATFORM METRICS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Framework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3000" y="1874520"/>
            <a:ext cx="4343400" cy="2103120"/>
          </a:xfrm>
          <a:prstGeom prst="roundRect">
            <a:avLst>
              <a:gd name="adj" fmla="val 4348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2075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6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99032" y="26517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Total Transactions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2095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E2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Count of transaction_id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874520"/>
            <a:ext cx="4343400" cy="2103120"/>
          </a:xfrm>
          <a:prstGeom prst="roundRect">
            <a:avLst>
              <a:gd name="adj" fmla="val 4348"/>
            </a:avLst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075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6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₹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0" y="21031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93992" y="26517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Average Amount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32095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D9E2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 of amount / 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43000" y="4800600"/>
            <a:ext cx="9738360" cy="594360"/>
          </a:xfrm>
          <a:prstGeom prst="roundRect">
            <a:avLst>
              <a:gd name="adj" fmla="val 12308"/>
            </a:avLst>
          </a:prstGeom>
          <a:solidFill>
            <a:srgbClr val="F3F6F8"/>
          </a:solidFill>
          <a:ln w="12700">
            <a:solidFill>
              <a:srgbClr val="D9E2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417320" y="4974336"/>
            <a:ext cx="9189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Purpose: create a simple executive baseline before moving into risk, stability, and entity monitoring.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&amp; Stability Metrics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A6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13350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linked to platform reliability and malicious activity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1920240"/>
            <a:ext cx="2468880" cy="65532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1975104"/>
            <a:ext cx="224942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246120" y="1920240"/>
            <a:ext cx="3657600" cy="65532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975104"/>
            <a:ext cx="343814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Purpose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6903720" y="1920240"/>
            <a:ext cx="4434840" cy="65532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13448" y="1975104"/>
            <a:ext cx="421538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777240" y="2575560"/>
            <a:ext cx="2468880" cy="65532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6968" y="2630424"/>
            <a:ext cx="224942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Failure Rate</a:t>
            </a:r>
            <a:endParaRPr lang="en-US" sz="1190" dirty="0"/>
          </a:p>
        </p:txBody>
      </p:sp>
      <p:sp>
        <p:nvSpPr>
          <p:cNvPr id="19" name="Shape 17"/>
          <p:cNvSpPr/>
          <p:nvPr/>
        </p:nvSpPr>
        <p:spPr>
          <a:xfrm>
            <a:off x="3246120" y="2575560"/>
            <a:ext cx="3657600" cy="65532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55848" y="2630424"/>
            <a:ext cx="343814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operational bottlenecks.</a:t>
            </a:r>
            <a:endParaRPr lang="en-US" sz="1190" dirty="0"/>
          </a:p>
        </p:txBody>
      </p:sp>
      <p:sp>
        <p:nvSpPr>
          <p:cNvPr id="21" name="Shape 19"/>
          <p:cNvSpPr/>
          <p:nvPr/>
        </p:nvSpPr>
        <p:spPr>
          <a:xfrm>
            <a:off x="6903720" y="2575560"/>
            <a:ext cx="4434840" cy="65532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13448" y="2630424"/>
            <a:ext cx="421538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Failed Transactions / Total Transactions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777240" y="3230880"/>
            <a:ext cx="2468880" cy="655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86968" y="3285744"/>
            <a:ext cx="224942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Fraud Rate</a:t>
            </a:r>
            <a:endParaRPr lang="en-US" sz="1190" dirty="0"/>
          </a:p>
        </p:txBody>
      </p:sp>
      <p:sp>
        <p:nvSpPr>
          <p:cNvPr id="25" name="Shape 23"/>
          <p:cNvSpPr/>
          <p:nvPr/>
        </p:nvSpPr>
        <p:spPr>
          <a:xfrm>
            <a:off x="3246120" y="3230880"/>
            <a:ext cx="3657600" cy="655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55848" y="3285744"/>
            <a:ext cx="343814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Measure malicious activity prevalence.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6903720" y="3230880"/>
            <a:ext cx="4434840" cy="655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13448" y="3285744"/>
            <a:ext cx="4215384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9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Flagged Transactions / Total Transactions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777240" y="3886200"/>
            <a:ext cx="1056132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234440" y="4754880"/>
            <a:ext cx="964692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54480" y="4983480"/>
            <a:ext cx="900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guardrail: present the rate and its purpose; avoid adding unsupported KPIs or findings.</a:t>
            </a:r>
            <a:endParaRPr lang="en-US" sz="13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FRAMEWORK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Monitoring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182880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52728" y="202996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52728" y="20528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92808" y="202996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Devices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92808" y="2432304"/>
            <a:ext cx="3611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Ranked by transaction volume to identify hardware ecosystem exposure.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182880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693408" y="202996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93408" y="205282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33488" y="2029968"/>
            <a:ext cx="3639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Merchants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33488" y="2432304"/>
            <a:ext cx="3611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Ranked by transaction volume to identify critical partner health.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983480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Entity views help leadership track where platform exposure and partner health require attention.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HYPOTHESES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Hypothesis Testing Framework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4709160" cy="1508760"/>
          </a:xfrm>
          <a:prstGeom prst="roundRect">
            <a:avLst>
              <a:gd name="adj" fmla="val 4848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78408" y="175564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177850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18488" y="1755648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Risk</a:t>
            </a:r>
            <a:endParaRPr lang="en-US" sz="1530" dirty="0"/>
          </a:p>
        </p:txBody>
      </p:sp>
      <p:sp>
        <p:nvSpPr>
          <p:cNvPr id="13" name="Text 11"/>
          <p:cNvSpPr/>
          <p:nvPr/>
        </p:nvSpPr>
        <p:spPr>
          <a:xfrm>
            <a:off x="1618488" y="2157984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Rooted devices are associated with higher transaction fraud rates.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4709160" cy="1508760"/>
          </a:xfrm>
          <a:prstGeom prst="roundRect">
            <a:avLst>
              <a:gd name="adj" fmla="val 4848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27648" y="175564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7648" y="177850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67728" y="1755648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Patterns</a:t>
            </a:r>
            <a:endParaRPr lang="en-US" sz="1530" dirty="0"/>
          </a:p>
        </p:txBody>
      </p:sp>
      <p:sp>
        <p:nvSpPr>
          <p:cNvPr id="18" name="Text 16"/>
          <p:cNvSpPr/>
          <p:nvPr/>
        </p:nvSpPr>
        <p:spPr>
          <a:xfrm>
            <a:off x="6967728" y="2157984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Merchant transactions in specific regions have significantly different failure rates.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777240" y="3474720"/>
            <a:ext cx="4709160" cy="1508760"/>
          </a:xfrm>
          <a:prstGeom prst="roundRect">
            <a:avLst>
              <a:gd name="adj" fmla="val 4848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8408" y="3675888"/>
            <a:ext cx="512064" cy="51206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78408" y="369874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18488" y="3675888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Channel Security</a:t>
            </a:r>
            <a:endParaRPr lang="en-US" sz="1530" dirty="0"/>
          </a:p>
        </p:txBody>
      </p:sp>
      <p:sp>
        <p:nvSpPr>
          <p:cNvPr id="23" name="Text 21"/>
          <p:cNvSpPr/>
          <p:nvPr/>
        </p:nvSpPr>
        <p:spPr>
          <a:xfrm>
            <a:off x="1618488" y="4078224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Certain payment channels have higher associations with fraud flags.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6126480" y="3474720"/>
            <a:ext cx="4709160" cy="1508760"/>
          </a:xfrm>
          <a:prstGeom prst="roundRect">
            <a:avLst>
              <a:gd name="adj" fmla="val 4848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27648" y="3675888"/>
            <a:ext cx="512064" cy="512064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3698748"/>
            <a:ext cx="512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67728" y="3675888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Device Reliability</a:t>
            </a:r>
            <a:endParaRPr lang="en-US" sz="1530" dirty="0"/>
          </a:p>
        </p:txBody>
      </p:sp>
      <p:sp>
        <p:nvSpPr>
          <p:cNvPr id="28" name="Text 26"/>
          <p:cNvSpPr/>
          <p:nvPr/>
        </p:nvSpPr>
        <p:spPr>
          <a:xfrm>
            <a:off x="6967728" y="4078224"/>
            <a:ext cx="36576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Different device types experience significantly different transaction success rates.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1097280" y="55778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hypotheses as analysis prompts, not as final claims until validated.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22608" y="0"/>
            <a:ext cx="438912" cy="6858000"/>
          </a:xfrm>
          <a:prstGeom prst="rect">
            <a:avLst/>
          </a:prstGeom>
          <a:solidFill>
            <a:srgbClr val="F3F6F8"/>
          </a:solidFill>
          <a:ln w="12700">
            <a:solidFill>
              <a:srgbClr val="F3F6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2103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850" b="1">
                <a:solidFill>
                  <a:srgbClr val="00A6A6"/>
                </a:solidFill>
                <a:latin typeface="Aptos" pitchFamily="34" charset="0"/>
              </a:rPr>
              <a:t>PROJECT</a:t>
            </a:r>
            <a:r>
              <a:rPr lang="en-IN" sz="900"/>
              <a:t> </a:t>
            </a:r>
            <a:r>
              <a:rPr lang="en-IN" sz="850" b="1">
                <a:solidFill>
                  <a:srgbClr val="00A6A6"/>
                </a:solidFill>
                <a:latin typeface="Aptos" pitchFamily="34" charset="0"/>
              </a:rPr>
              <a:t>EXECUTION</a:t>
            </a:r>
            <a:r>
              <a:rPr lang="en-IN" sz="900"/>
              <a:t> </a:t>
            </a:r>
            <a:r>
              <a:rPr lang="en-IN" sz="850" b="1">
                <a:solidFill>
                  <a:srgbClr val="00A6A6"/>
                </a:solidFill>
                <a:latin typeface="Aptos" pitchFamily="34" charset="0"/>
              </a:rPr>
              <a:t>FLOW</a:t>
            </a:r>
            <a:endParaRPr lang="en-US" sz="850" b="1" dirty="0">
              <a:solidFill>
                <a:srgbClr val="00A6A6"/>
              </a:solidFill>
              <a:latin typeface="Aptos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4389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Tool Flow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594360" y="1060704"/>
            <a:ext cx="114300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835640" y="502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6446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091672" y="6510528"/>
            <a:ext cx="411480" cy="36576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773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95528" y="213055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D9E2E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validation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2615184" y="185623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71800" y="16002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63240" y="1773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3081528" y="213055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&amp; ingestion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4901184" y="185623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57800" y="16002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49240" y="1773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5367528" y="213055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&amp; statistics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7187184" y="185623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43800" y="16002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35240" y="1773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7653528" y="213055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Interactive dashboard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473184" y="1856232"/>
            <a:ext cx="301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29800" y="16002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 w="12700">
            <a:solidFill>
              <a:srgbClr val="D9E2E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21240" y="1773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Report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9939528" y="213055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 summary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4008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A6A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7552" y="32095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each tool supports the capstone deliverables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3703320"/>
            <a:ext cx="2377440" cy="35814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6968" y="3758184"/>
            <a:ext cx="215798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154680" y="3703320"/>
            <a:ext cx="8183880" cy="358140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64408" y="3758184"/>
            <a:ext cx="796442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777240" y="4061460"/>
            <a:ext cx="2377440" cy="35814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86968" y="4116324"/>
            <a:ext cx="215798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54680" y="4061460"/>
            <a:ext cx="8183880" cy="35814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64408" y="4116324"/>
            <a:ext cx="796442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Initial review, validation log, and table-level checks.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" y="4419600"/>
            <a:ext cx="2377440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86968" y="4474464"/>
            <a:ext cx="215798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SQL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54680" y="4419600"/>
            <a:ext cx="8183880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264408" y="4474464"/>
            <a:ext cx="796442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Schema preparation and structured data ingestion.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7240" y="4777740"/>
            <a:ext cx="2377440" cy="35814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86968" y="4832604"/>
            <a:ext cx="215798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54680" y="4777740"/>
            <a:ext cx="8183880" cy="35814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64408" y="4832604"/>
            <a:ext cx="796442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Exploratory data analysis and statistical testing.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7240" y="5135880"/>
            <a:ext cx="2377440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86968" y="5190744"/>
            <a:ext cx="215798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 BI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54680" y="5135880"/>
            <a:ext cx="8183880" cy="358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264408" y="5190744"/>
            <a:ext cx="796442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Interactive dashboard development.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7240" y="5494020"/>
            <a:ext cx="2377440" cy="35814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86968" y="5548884"/>
            <a:ext cx="215798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Report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154680" y="5494020"/>
            <a:ext cx="8183880" cy="358140"/>
          </a:xfrm>
          <a:prstGeom prst="rect">
            <a:avLst/>
          </a:prstGeom>
          <a:solidFill>
            <a:srgbClr val="F3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264408" y="5548884"/>
            <a:ext cx="7964424" cy="2484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Two-page business summary for decision-making.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77240" y="5852160"/>
            <a:ext cx="1056132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EA5B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Validation Approach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Excel-Based Data Integrity Assessment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5727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Validation performed across all seven supplied datasets before SQL ingestion.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  <a:effectLst>
            <a:outerShdw blurRad="12700" dist="50800" dir="2700000" algn="bl" rotWithShape="0">
              <a:srgbClr val="D1D5DB">
                <a:alpha val="13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Row &amp; Key Validation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Verify row counts, primary-key uniqueness, and duplicate records.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65576" y="205740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  <a:effectLst>
            <a:outerShdw blurRad="12700" dist="50800" dir="2700000" algn="bl" rotWithShape="0">
              <a:srgbClr val="D1D5DB">
                <a:alpha val="13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EA5B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Referential Integrity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Validate customer, merchant, UPI, device, and transaction foreign keys.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81344" y="205740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  <a:effectLst>
            <a:outerShdw blurRad="12700" dist="50800" dir="2700000" algn="bl" rotWithShape="0">
              <a:srgbClr val="D1D5DB">
                <a:alpha val="13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Data Quality Checks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Review missing values, categorical consistency, date formats, ranges, and outliers.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97112" y="2057400"/>
            <a:ext cx="248716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E5E7EB"/>
            </a:solidFill>
          </a:ln>
          <a:effectLst>
            <a:outerShdw blurRad="12700" dist="50800" dir="2700000" algn="bl" rotWithShape="0">
              <a:srgbClr val="D1D5DB">
                <a:alpha val="13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16A34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Validation Controls
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3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Apply validation_status, conditional formatting, and maintain a Data Quality Log.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9808" y="5166360"/>
            <a:ext cx="10058400" cy="493776"/>
          </a:xfrm>
          <a:prstGeom prst="roundRect">
            <a:avLst>
              <a:gd name="adj" fmla="val 9259"/>
            </a:avLst>
          </a:prstGeom>
          <a:solidFill>
            <a:srgbClr val="ECFEFF"/>
          </a:solidFill>
          <a:ln w="8890">
            <a:solidFill>
              <a:srgbClr val="0EA5B7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Method: Validate structure first, then classify issues as invalid, contextual, or review-only.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EA5B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Results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Validation Summary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" y="16916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77824" y="183794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/ 7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6112" y="231343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Datasets validated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5840" y="2596896"/>
            <a:ext cx="2551176" cy="32004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68496" y="16916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96512" y="183794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140,500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4800" y="231343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Total source records validated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24528" y="2596896"/>
            <a:ext cx="2551176" cy="320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187184" y="16916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0" y="183794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33488" y="231343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Duplicate primary IDs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43216" y="2596896"/>
            <a:ext cx="2551176" cy="320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49808" y="3063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7824" y="320954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6112" y="368503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Orphan FK records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05840" y="3968496"/>
            <a:ext cx="2551176" cy="320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68496" y="3063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96512" y="320954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114800" y="368503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Detected categorical inconsistencies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24528" y="3968496"/>
            <a:ext cx="2551176" cy="320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87184" y="30632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D1D5DB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0" y="3209544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100%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33488" y="3685032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8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Required FK checks passed</a:t>
            </a:r>
            <a:endParaRPr kumimoji="0" lang="en-US" sz="10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43216" y="3968496"/>
            <a:ext cx="2551176" cy="32004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9808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EA5B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Overall Result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9808" y="496519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Strong structural integrity was observed across the supplied datasets. No duplicate primary identifiers or orphan records were detected in the required relationships.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9808" y="564184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Source basis: Excel validation workbook row counts, duplicate-key checks, and assignment-required FK checks.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6928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A5B7"/>
          </a:solidFill>
          <a:ln w="12700">
            <a:solidFill>
              <a:srgbClr val="0EA5B7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384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EA5B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6766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 Findings &amp; Treatment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Issues Identified and Treatment Decisions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9808" y="1627632"/>
            <a:ext cx="2834640" cy="530352"/>
          </a:xfrm>
          <a:prstGeom prst="rect">
            <a:avLst/>
          </a:prstGeom>
          <a:solidFill>
            <a:srgbClr val="0B1F3A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Finding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84448" y="1627632"/>
            <a:ext cx="2423160" cy="530352"/>
          </a:xfrm>
          <a:prstGeom prst="rect">
            <a:avLst/>
          </a:prstGeom>
          <a:solidFill>
            <a:srgbClr val="0B1F3A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Validation Evidence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07608" y="1627632"/>
            <a:ext cx="4572000" cy="530352"/>
          </a:xfrm>
          <a:prstGeom prst="rect">
            <a:avLst/>
          </a:prstGeom>
          <a:solidFill>
            <a:srgbClr val="0B1F3A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Treatment Decision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2157984"/>
            <a:ext cx="28346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merchant_id blanks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584448" y="2157984"/>
            <a:ext cx="24231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69,851 records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07608" y="2157984"/>
            <a:ext cx="4572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Retain where merchant is not applicable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2688336"/>
            <a:ext cx="2834640" cy="53035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failure_reason blanks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84448" y="2688336"/>
            <a:ext cx="2423160" cy="53035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94,129 records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07608" y="2688336"/>
            <a:ext cx="4572000" cy="53035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Retain for non-failed transactions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9808" y="3218688"/>
            <a:ext cx="283464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resolution_date blanks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84448" y="3218688"/>
            <a:ext cx="24231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248 records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07608" y="3218688"/>
            <a:ext cx="457200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Retain for unresolved alerts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9808" y="3749040"/>
            <a:ext cx="2834640" cy="53035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Transaction amount outliers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84448" y="3749040"/>
            <a:ext cx="2423160" cy="53035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5,457 records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07608" y="3749040"/>
            <a:ext cx="4572000" cy="530352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20" b="0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Retain and investigate during EDA</a:t>
            </a:r>
            <a:endParaRPr kumimoji="0" lang="en-US" sz="10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9808" y="4736592"/>
            <a:ext cx="10058400" cy="493776"/>
          </a:xfrm>
          <a:prstGeom prst="roundRect">
            <a:avLst>
              <a:gd name="adj" fmla="val 9259"/>
            </a:avLst>
          </a:prstGeom>
          <a:solidFill>
            <a:srgbClr val="ECFEFF"/>
          </a:solidFill>
          <a:ln w="8890">
            <a:solidFill>
              <a:srgbClr val="0EA5B7">
                <a:alpha val="8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B1F3A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No aggressive deletion or imputation was required during Excel validation. Contextual nulls were retained, while statistical outliers were flagged for analytical review.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75120" y="6089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EA5B7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Next Phase  →  SQL Database Design &amp; Table Creation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66928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7360</TotalTime>
  <Words>1092</Words>
  <Application>Microsoft Macintosh PowerPoint</Application>
  <PresentationFormat>Widescreen</PresentationFormat>
  <Paragraphs>257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 Light</vt:lpstr>
      <vt:lpstr>Segoe UI Symbol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Adda247 Capstone Project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Transaction Analysis - Business Understanding &amp; Data Validation</dc:title>
  <dc:subject>UPI Transaction Analysis Capstone Project</dc:subject>
  <dc:creator>Chinmaya Panigrahi</dc:creator>
  <cp:keywords/>
  <dc:description/>
  <cp:lastModifiedBy>chinmayapanigrahi1</cp:lastModifiedBy>
  <cp:revision>8</cp:revision>
  <dcterms:created xsi:type="dcterms:W3CDTF">2026-09-01T06:25:49Z</dcterms:created>
  <dcterms:modified xsi:type="dcterms:W3CDTF">2026-09-24T13:56:38Z</dcterms:modified>
  <cp:category/>
</cp:coreProperties>
</file>